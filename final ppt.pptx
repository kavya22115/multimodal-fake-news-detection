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72" r:id="rId10"/>
    <p:sldId id="271" r:id="rId11"/>
    <p:sldId id="273" r:id="rId12"/>
    <p:sldId id="274" r:id="rId13"/>
    <p:sldId id="263" r:id="rId14"/>
    <p:sldId id="264" r:id="rId15"/>
    <p:sldId id="275" r:id="rId16"/>
    <p:sldId id="276" r:id="rId17"/>
    <p:sldId id="277" r:id="rId18"/>
    <p:sldId id="268" r:id="rId19"/>
  </p:sldIdLst>
  <p:sldSz cx="9144000" cy="5143500" type="screen16x9"/>
  <p:notesSz cx="6858000" cy="9144000"/>
  <p:embeddedFontLst>
    <p:embeddedFont>
      <p:font typeface="Pacifico" panose="00000500000000000000" pitchFamily="2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42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94922758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94922758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94922758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b94922758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b21bd48a7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b21bd48a7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1053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94922758e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94922758e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94922758e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94922758e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950bf85e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950bf85e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b21bd48a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b21bd48a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b014ac79e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b014ac79e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5449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4529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32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541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058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950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60375" y="230175"/>
            <a:ext cx="8124000" cy="7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R.V.R. &amp; J.C. COLLEGE OF ENGINEERING(AUTONOMOUS)</a:t>
            </a:r>
            <a:br>
              <a:rPr lang="en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Engineering(Data Science)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297800" y="1394500"/>
            <a:ext cx="6548400" cy="14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Multimodal Fake News Detection Using </a:t>
            </a:r>
            <a:r>
              <a:rPr lang="en-US" sz="20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RoBERTa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Vision Transformer with Late Fusion Strategy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775" y="127663"/>
            <a:ext cx="952536" cy="9325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280450" y="2823100"/>
            <a:ext cx="3479400" cy="20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No - 04</a:t>
            </a:r>
            <a:b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Members:</a:t>
            </a:r>
            <a:b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N. Dharma Teja - Y22CD116</a:t>
            </a:r>
            <a:b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 Kavya - Y22CD089</a:t>
            </a:r>
            <a:b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725300" y="3927775"/>
            <a:ext cx="4418700" cy="7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Guide: </a:t>
            </a:r>
            <a:r>
              <a:rPr lang="en-GB" dirty="0"/>
              <a:t>Dr. A.V. Ramakrishna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2382600" y="243400"/>
            <a:ext cx="4378800" cy="8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583350" y="746474"/>
            <a:ext cx="8343674" cy="415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Rise of Multimodal Misinformation</a:t>
            </a:r>
            <a:br>
              <a:rPr lang="en-US" sz="1200" dirty="0"/>
            </a:br>
            <a:r>
              <a:rPr lang="en-US" sz="1200" dirty="0"/>
              <a:t>Fake news now combines text, images, and videos, making it more convincing and harder to detect than traditional text-only misinformation.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Limitations of Text-Based Models</a:t>
            </a:r>
            <a:br>
              <a:rPr lang="en-US" sz="1200" dirty="0"/>
            </a:br>
            <a:r>
              <a:rPr lang="en-US" sz="1200" dirty="0"/>
              <a:t>NLP models (like </a:t>
            </a:r>
            <a:r>
              <a:rPr lang="en-US" sz="1200" dirty="0" err="1"/>
              <a:t>RoBERTa</a:t>
            </a:r>
            <a:r>
              <a:rPr lang="en-US" sz="1200" dirty="0"/>
              <a:t>/BERT) can analyze language but fail to detect manipulated images or deepfake videos, creating a major blind spot.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Limitations of Vision-Based Models</a:t>
            </a:r>
            <a:br>
              <a:rPr lang="en-US" sz="1200" dirty="0"/>
            </a:br>
            <a:r>
              <a:rPr lang="en-US" sz="1200" dirty="0"/>
              <a:t>Deepfake detection systems can identify visual manipulation but cannot verify whether the accompanying text is truthful or misleading.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Inefficiency of Existing Multimodal Approaches</a:t>
            </a:r>
            <a:br>
              <a:rPr lang="en-US" sz="1200" dirty="0"/>
            </a:br>
            <a:r>
              <a:rPr lang="en-US" sz="1200" dirty="0"/>
              <a:t>Early fusion methods combine text and image features too early, leading to interference between modalities and reduced performance, especially when one modality is missing.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Need for Robust Cross-Modal Reasoning</a:t>
            </a:r>
            <a:br>
              <a:rPr lang="en-US" sz="1200" dirty="0"/>
            </a:br>
            <a:r>
              <a:rPr lang="en-US" sz="1200" dirty="0"/>
              <a:t>A reliable system must independently analyze text and visuals and also check whether they logically support each other, which existing systems fail to do effectively.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2242525" y="235600"/>
            <a:ext cx="4554600" cy="5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2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227850" y="708950"/>
            <a:ext cx="8688300" cy="3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proliferation of multimodal misinformation across social media platforms poses a critical challenge for automated fact-verification systems. Fabricated news increasingly exploits both persuasive language and synthetically manipulated visual media, rendering single-modality detection approaches insufficient. This project proposes a Multimodal Fake News Detection Framework integrating two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specialised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Transformer-based expert models: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deep linguistic analysis and Vision Transformer (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visual deepfake forensics. Rather than coupling modalities at the feature level, a Late Fusion strategy combines independently calibrated probability scores via a weighted decision rule (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P_final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0.4 x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P_text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+ 0.6 x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P_vision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reflecting the stronger forensic evidence present in visually manipulated content. The framework is trained and evaluated on three public benchmarks -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FakeNewsNet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SocialDF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FACTIFY 2 - and achieves an F1-score of 92.6% with an AUC of 0.967, outperforming text-only, vision-only, and early-fusion baselines by margins of +10.4, +13.1, and +7.5 percentage points respectively. The modular architecture supports independent model retraining, partial-modality inference, and real-time deployment at approximately 14 posts per second on a single GPU.</a:t>
            </a:r>
            <a:endParaRPr 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8C2261B8-4200-4E9B-EDCC-BE2A344659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3838020"/>
              </p:ext>
            </p:extLst>
          </p:nvPr>
        </p:nvGraphicFramePr>
        <p:xfrm>
          <a:off x="945397" y="638876"/>
          <a:ext cx="5782662" cy="4017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953442" imgH="4135481" progId="Word.Document.12">
                  <p:embed/>
                </p:oleObj>
              </mc:Choice>
              <mc:Fallback>
                <p:oleObj name="Document" r:id="rId3" imgW="5953442" imgH="41354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45397" y="638876"/>
                        <a:ext cx="5782662" cy="40170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E4C9BAF-DE48-03D6-62E0-2D642BB4882E}"/>
              </a:ext>
            </a:extLst>
          </p:cNvPr>
          <p:cNvCxnSpPr/>
          <p:nvPr/>
        </p:nvCxnSpPr>
        <p:spPr>
          <a:xfrm>
            <a:off x="6503538" y="537907"/>
            <a:ext cx="0" cy="40676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99A57D-F378-B358-E683-BF805CC11C6B}"/>
              </a:ext>
            </a:extLst>
          </p:cNvPr>
          <p:cNvCxnSpPr>
            <a:cxnSpLocks/>
          </p:cNvCxnSpPr>
          <p:nvPr/>
        </p:nvCxnSpPr>
        <p:spPr>
          <a:xfrm>
            <a:off x="2657959" y="674794"/>
            <a:ext cx="0" cy="38298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62CA008-BC17-C29A-8AF5-A16870D69694}"/>
              </a:ext>
            </a:extLst>
          </p:cNvPr>
          <p:cNvSpPr txBox="1"/>
          <p:nvPr/>
        </p:nvSpPr>
        <p:spPr>
          <a:xfrm>
            <a:off x="3157779" y="367019"/>
            <a:ext cx="2828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752572C-28B2-AF5F-4DDB-BA9B73D6E50B}"/>
              </a:ext>
            </a:extLst>
          </p:cNvPr>
          <p:cNvCxnSpPr/>
          <p:nvPr/>
        </p:nvCxnSpPr>
        <p:spPr>
          <a:xfrm>
            <a:off x="1376413" y="4504623"/>
            <a:ext cx="512712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4988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F1C8E8-B2B1-1381-9CFA-6F937AA7D000}"/>
              </a:ext>
            </a:extLst>
          </p:cNvPr>
          <p:cNvSpPr txBox="1"/>
          <p:nvPr/>
        </p:nvSpPr>
        <p:spPr>
          <a:xfrm>
            <a:off x="237892" y="958080"/>
            <a:ext cx="802144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Text-based methods</a:t>
            </a:r>
            <a:br>
              <a:rPr lang="en-US" dirty="0"/>
            </a:br>
            <a:r>
              <a:rPr lang="en-US" dirty="0"/>
              <a:t>Existing approaches analyze linguistic features like writing style, sentiment, and word patterns, but they cannot detect manipulation in images or videos.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Vision-based methods</a:t>
            </a:r>
            <a:br>
              <a:rPr lang="en-US" dirty="0"/>
            </a:br>
            <a:r>
              <a:rPr lang="en-US" dirty="0"/>
              <a:t>These focus on identifying visual manipulations such as deepfakes and edited media, but they fail to assess whether the accompanying text is misleading or false.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Multimodal fusion approaches</a:t>
            </a:r>
            <a:br>
              <a:rPr lang="en-US" dirty="0"/>
            </a:br>
            <a:r>
              <a:rPr lang="en-US" dirty="0"/>
              <a:t>Some methods combine text and visual features together, but they often suffer from interference between modalities, reduced accuracy, and poor performance when one type of data is missing.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5B415D-CB6C-CDA7-BD5D-728A1B590487}"/>
              </a:ext>
            </a:extLst>
          </p:cNvPr>
          <p:cNvSpPr txBox="1"/>
          <p:nvPr/>
        </p:nvSpPr>
        <p:spPr>
          <a:xfrm>
            <a:off x="3311912" y="275063"/>
            <a:ext cx="3665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/>
        </p:nvSpPr>
        <p:spPr>
          <a:xfrm>
            <a:off x="1956300" y="284300"/>
            <a:ext cx="52314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GAPS IDENTIFIED</a:t>
            </a:r>
            <a:endParaRPr sz="2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439650" y="773225"/>
            <a:ext cx="8264700" cy="41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effective cross-modal understanding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do not properly verify whether visual content actually supports the textual claim, leading to failures in detecting misleading combinations.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handling of missing or noisy modalities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multimodal approaches depend on both text and visuals together and fail or degrade significantly when one modality is absent, compressed, or low quality.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Interference in joint feature learning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fusion methods combine features too early, causing reduced specialization and weaker representations for each modality, which lowers overall detection accuracy.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/>
        </p:nvSpPr>
        <p:spPr>
          <a:xfrm>
            <a:off x="2088750" y="73450"/>
            <a:ext cx="4966500" cy="7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WORK</a:t>
            </a: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220425" y="462625"/>
            <a:ext cx="8694900" cy="65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Two-branch multimodal framework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independently analyzes text and visual content using specialized models, allowing each modality to learn its features without interference.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 fusion strategy for decision making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combining features early, the model merges final prediction scores using a weighted approach, improving accuracy and robustness.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and real-time deployable system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supports independent model updates, works with partial inputs, and achieves real-time performance, making it practical for social media monitoring.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/>
        </p:nvSpPr>
        <p:spPr>
          <a:xfrm>
            <a:off x="2151775" y="157125"/>
            <a:ext cx="4692000" cy="6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Architecture</a:t>
            </a:r>
            <a:endParaRPr sz="22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EDF1B9-0186-359D-7B22-BB38C9BA5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81" y="811725"/>
            <a:ext cx="7424237" cy="32022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62820"/>
            <a:ext cx="542136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Two Expert Transformer Models</a:t>
            </a:r>
            <a:endParaRPr lang="en-US" sz="2781" dirty="0"/>
          </a:p>
        </p:txBody>
      </p:sp>
      <p:sp>
        <p:nvSpPr>
          <p:cNvPr id="3" name="Shape 1"/>
          <p:cNvSpPr/>
          <p:nvPr/>
        </p:nvSpPr>
        <p:spPr>
          <a:xfrm>
            <a:off x="496119" y="2018407"/>
            <a:ext cx="4004965" cy="1762199"/>
          </a:xfrm>
          <a:prstGeom prst="roundRect">
            <a:avLst>
              <a:gd name="adj" fmla="val 5189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7069" y="2018407"/>
            <a:ext cx="76200" cy="1762199"/>
          </a:xfrm>
          <a:prstGeom prst="roundRect">
            <a:avLst>
              <a:gd name="adj" fmla="val 78139"/>
            </a:avLst>
          </a:prstGeom>
          <a:solidFill>
            <a:srgbClr val="373B48"/>
          </a:solidFill>
          <a:ln/>
        </p:spPr>
      </p:sp>
      <p:sp>
        <p:nvSpPr>
          <p:cNvPr id="5" name="Text 3"/>
          <p:cNvSpPr/>
          <p:nvPr/>
        </p:nvSpPr>
        <p:spPr>
          <a:xfrm>
            <a:off x="714078" y="2179216"/>
            <a:ext cx="25967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RoBERTa — Linguistic Analysis</a:t>
            </a:r>
            <a:endParaRPr lang="en-US" sz="1375" dirty="0"/>
          </a:p>
        </p:txBody>
      </p:sp>
      <p:sp>
        <p:nvSpPr>
          <p:cNvPr id="6" name="Text 4"/>
          <p:cNvSpPr/>
          <p:nvPr/>
        </p:nvSpPr>
        <p:spPr>
          <a:xfrm>
            <a:off x="714077" y="2485728"/>
            <a:ext cx="362619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12 encoder layers, 125M parameters. Detects sensationalist tone, absent attributions, emotional amplification, and logical inconsistencies. Outputs </a:t>
            </a:r>
            <a:r>
              <a:rPr lang="en-US" sz="1094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P_text</a:t>
            </a: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via sigmoid classification head on [CLS] token.</a:t>
            </a:r>
            <a:endParaRPr lang="en-US" sz="1094" dirty="0"/>
          </a:p>
        </p:txBody>
      </p:sp>
      <p:sp>
        <p:nvSpPr>
          <p:cNvPr id="7" name="Shape 5"/>
          <p:cNvSpPr/>
          <p:nvPr/>
        </p:nvSpPr>
        <p:spPr>
          <a:xfrm>
            <a:off x="4642843" y="2018407"/>
            <a:ext cx="4005039" cy="1762199"/>
          </a:xfrm>
          <a:prstGeom prst="roundRect">
            <a:avLst>
              <a:gd name="adj" fmla="val 5189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23792" y="2018407"/>
            <a:ext cx="76200" cy="1762199"/>
          </a:xfrm>
          <a:prstGeom prst="roundRect">
            <a:avLst>
              <a:gd name="adj" fmla="val 78139"/>
            </a:avLst>
          </a:prstGeom>
          <a:solidFill>
            <a:srgbClr val="373B48"/>
          </a:solidFill>
          <a:ln/>
        </p:spPr>
      </p:sp>
      <p:sp>
        <p:nvSpPr>
          <p:cNvPr id="9" name="Text 7"/>
          <p:cNvSpPr/>
          <p:nvPr/>
        </p:nvSpPr>
        <p:spPr>
          <a:xfrm>
            <a:off x="4860802" y="2179216"/>
            <a:ext cx="18830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ViT — Visual Forensics</a:t>
            </a:r>
            <a:endParaRPr lang="en-US" sz="1375" dirty="0"/>
          </a:p>
        </p:txBody>
      </p:sp>
      <p:sp>
        <p:nvSpPr>
          <p:cNvPr id="10" name="Text 8"/>
          <p:cNvSpPr/>
          <p:nvPr/>
        </p:nvSpPr>
        <p:spPr>
          <a:xfrm>
            <a:off x="4860802" y="2485728"/>
            <a:ext cx="3626272" cy="1134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12-layer Vision Transformer processing 196 patches per frame. Detects boundary discontinuities, illumination anomalies, GAN spectral artefacts, and texture inconsistencies. Outputs </a:t>
            </a:r>
            <a:r>
              <a:rPr lang="en-US" sz="1094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P_vision</a:t>
            </a: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via temporal mean pooling across frames.</a:t>
            </a:r>
            <a:endParaRPr lang="en-US" sz="1094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D21038-CA09-762A-B621-E0421C7616AB}"/>
              </a:ext>
            </a:extLst>
          </p:cNvPr>
          <p:cNvSpPr/>
          <p:nvPr/>
        </p:nvSpPr>
        <p:spPr>
          <a:xfrm>
            <a:off x="7798443" y="4825196"/>
            <a:ext cx="1273215" cy="3183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75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4879628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19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Three Complementary Benchmarks</a:t>
            </a:r>
            <a:endParaRPr lang="en-US" sz="2219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90" y="935906"/>
            <a:ext cx="3759622" cy="375962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90" y="935906"/>
            <a:ext cx="3759622" cy="37596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14503" y="2572122"/>
            <a:ext cx="3759622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875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framework is evaluated across </a:t>
            </a:r>
            <a:r>
              <a:rPr lang="en-US" sz="875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34,505 samples</a:t>
            </a:r>
            <a:r>
              <a:rPr lang="en-US" sz="875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spanning textual misinformation, deepfake video, and cross-modal entailment — ensuring robust generalisation across the full spectrum of multimodal fake news.</a:t>
            </a:r>
            <a:endParaRPr lang="en-US" sz="875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AE5C5B-1293-10D1-6043-ED75748D7922}"/>
              </a:ext>
            </a:extLst>
          </p:cNvPr>
          <p:cNvSpPr/>
          <p:nvPr/>
        </p:nvSpPr>
        <p:spPr>
          <a:xfrm>
            <a:off x="7798443" y="4825196"/>
            <a:ext cx="1273215" cy="3183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75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32309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Late Fusion Strategy</a:t>
            </a:r>
            <a:endParaRPr lang="en-US" sz="2781" dirty="0"/>
          </a:p>
        </p:txBody>
      </p:sp>
      <p:sp>
        <p:nvSpPr>
          <p:cNvPr id="3" name="Text 1"/>
          <p:cNvSpPr/>
          <p:nvPr/>
        </p:nvSpPr>
        <p:spPr>
          <a:xfrm>
            <a:off x="496119" y="1529656"/>
            <a:ext cx="20126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Weighted Decision Rule</a:t>
            </a:r>
            <a:endParaRPr lang="en-US" sz="1375" dirty="0"/>
          </a:p>
        </p:txBody>
      </p:sp>
      <p:sp>
        <p:nvSpPr>
          <p:cNvPr id="4" name="Text 2"/>
          <p:cNvSpPr/>
          <p:nvPr/>
        </p:nvSpPr>
        <p:spPr>
          <a:xfrm>
            <a:off x="496119" y="1930524"/>
            <a:ext cx="3902943" cy="245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endParaRPr lang="en-US" sz="1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30524"/>
            <a:ext cx="3902943" cy="2457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355726"/>
            <a:ext cx="390294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Fusion weight </a:t>
            </a:r>
            <a:r>
              <a:rPr lang="en-US" sz="1094" i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\alpha = 0.4</a:t>
            </a: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determined via grid search on held-out validation data. Higher visual weight reflects stronger, more objective forensic evidence from deepfake artefacts.</a:t>
            </a:r>
            <a:endParaRPr lang="en-US" sz="1094" dirty="0"/>
          </a:p>
        </p:txBody>
      </p:sp>
      <p:sp>
        <p:nvSpPr>
          <p:cNvPr id="9" name="Text 5"/>
          <p:cNvSpPr/>
          <p:nvPr/>
        </p:nvSpPr>
        <p:spPr>
          <a:xfrm>
            <a:off x="956817" y="3372817"/>
            <a:ext cx="3300487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Classification threshold </a:t>
            </a:r>
            <a:r>
              <a:rPr lang="en-US" sz="1094" i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= 0.50</a:t>
            </a:r>
            <a:r>
              <a:rPr lang="en-US" sz="1094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optimised for balanced precision-recall; adjustable for deployment-specific cost asymmetries.</a:t>
            </a:r>
            <a:endParaRPr lang="en-US" sz="1094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2833" y="1554436"/>
            <a:ext cx="212601" cy="21260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10398" y="1547367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Independent models develop </a:t>
            </a:r>
            <a:r>
              <a:rPr lang="en-US" sz="1094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complementary error patterns</a:t>
            </a: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reducing aggregate variance</a:t>
            </a:r>
            <a:endParaRPr lang="en-US" sz="1094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2833" y="2291581"/>
            <a:ext cx="212601" cy="21260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10398" y="2284512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Each branch can be </a:t>
            </a:r>
            <a:r>
              <a:rPr lang="en-US" sz="1094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retrained or replaced</a:t>
            </a: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without modifying the pipeline</a:t>
            </a:r>
            <a:endParaRPr lang="en-US" sz="1094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2833" y="3028727"/>
            <a:ext cx="212601" cy="21260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10398" y="3021658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Graceful degradation</a:t>
            </a: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when one modality is absent or corrupted</a:t>
            </a:r>
            <a:endParaRPr lang="en-US" sz="1094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2833" y="3765873"/>
            <a:ext cx="212601" cy="212601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210398" y="3758804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Modality contributions are </a:t>
            </a:r>
            <a:r>
              <a:rPr lang="en-US" sz="1094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explicitly quantified</a:t>
            </a: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by fusion weights</a:t>
            </a:r>
            <a:endParaRPr lang="en-US" sz="1094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F3C38E-634E-D0DD-43DF-28A187FCA454}"/>
              </a:ext>
            </a:extLst>
          </p:cNvPr>
          <p:cNvSpPr/>
          <p:nvPr/>
        </p:nvSpPr>
        <p:spPr>
          <a:xfrm>
            <a:off x="7798443" y="4825196"/>
            <a:ext cx="1273215" cy="3183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75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386656"/>
            <a:ext cx="441930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75"/>
              </a:lnSpc>
            </a:pPr>
            <a:r>
              <a:rPr lang="en-US" sz="2688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Implementation &amp; Training</a:t>
            </a:r>
            <a:endParaRPr lang="en-US" sz="2688" dirty="0"/>
          </a:p>
        </p:txBody>
      </p:sp>
      <p:sp>
        <p:nvSpPr>
          <p:cNvPr id="3" name="Shape 1"/>
          <p:cNvSpPr/>
          <p:nvPr/>
        </p:nvSpPr>
        <p:spPr>
          <a:xfrm>
            <a:off x="480641" y="1081832"/>
            <a:ext cx="8182719" cy="3092649"/>
          </a:xfrm>
          <a:prstGeom prst="roundRect">
            <a:avLst>
              <a:gd name="adj" fmla="val 186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5404" y="1086595"/>
            <a:ext cx="8173194" cy="3853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22771" y="1171129"/>
            <a:ext cx="25018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Hyperparameter</a:t>
            </a:r>
            <a:endParaRPr lang="en-US" sz="1063" dirty="0"/>
          </a:p>
        </p:txBody>
      </p:sp>
      <p:sp>
        <p:nvSpPr>
          <p:cNvPr id="6" name="Text 4"/>
          <p:cNvSpPr/>
          <p:nvPr/>
        </p:nvSpPr>
        <p:spPr>
          <a:xfrm>
            <a:off x="3403997" y="1171129"/>
            <a:ext cx="241778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RoBERTa (Text)</a:t>
            </a:r>
            <a:endParaRPr lang="en-US" sz="1063" dirty="0"/>
          </a:p>
        </p:txBody>
      </p:sp>
      <p:sp>
        <p:nvSpPr>
          <p:cNvPr id="7" name="Text 5"/>
          <p:cNvSpPr/>
          <p:nvPr/>
        </p:nvSpPr>
        <p:spPr>
          <a:xfrm>
            <a:off x="6101134" y="1171129"/>
            <a:ext cx="242016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ViT (Visual)</a:t>
            </a:r>
            <a:endParaRPr lang="en-US" sz="1063" dirty="0"/>
          </a:p>
        </p:txBody>
      </p:sp>
      <p:sp>
        <p:nvSpPr>
          <p:cNvPr id="8" name="Shape 6"/>
          <p:cNvSpPr/>
          <p:nvPr/>
        </p:nvSpPr>
        <p:spPr>
          <a:xfrm>
            <a:off x="485404" y="1471985"/>
            <a:ext cx="8173194" cy="38539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22771" y="1556519"/>
            <a:ext cx="25018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Pretrained Checkpoint</a:t>
            </a:r>
            <a:endParaRPr lang="en-US" sz="1063" dirty="0"/>
          </a:p>
        </p:txBody>
      </p:sp>
      <p:sp>
        <p:nvSpPr>
          <p:cNvPr id="10" name="Text 8"/>
          <p:cNvSpPr/>
          <p:nvPr/>
        </p:nvSpPr>
        <p:spPr>
          <a:xfrm>
            <a:off x="3403997" y="1556519"/>
            <a:ext cx="241778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roberta-base</a:t>
            </a:r>
            <a:endParaRPr lang="en-US" sz="1063" dirty="0"/>
          </a:p>
        </p:txBody>
      </p:sp>
      <p:sp>
        <p:nvSpPr>
          <p:cNvPr id="11" name="Text 9"/>
          <p:cNvSpPr/>
          <p:nvPr/>
        </p:nvSpPr>
        <p:spPr>
          <a:xfrm>
            <a:off x="6101134" y="1556519"/>
            <a:ext cx="242016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vit-base-patch16-224</a:t>
            </a:r>
            <a:endParaRPr lang="en-US" sz="1063" dirty="0"/>
          </a:p>
        </p:txBody>
      </p:sp>
      <p:sp>
        <p:nvSpPr>
          <p:cNvPr id="12" name="Shape 10"/>
          <p:cNvSpPr/>
          <p:nvPr/>
        </p:nvSpPr>
        <p:spPr>
          <a:xfrm>
            <a:off x="485404" y="1857375"/>
            <a:ext cx="8173194" cy="3853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22771" y="1941910"/>
            <a:ext cx="25018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Batch Size</a:t>
            </a:r>
            <a:endParaRPr lang="en-US" sz="1063" dirty="0"/>
          </a:p>
        </p:txBody>
      </p:sp>
      <p:sp>
        <p:nvSpPr>
          <p:cNvPr id="14" name="Text 12"/>
          <p:cNvSpPr/>
          <p:nvPr/>
        </p:nvSpPr>
        <p:spPr>
          <a:xfrm>
            <a:off x="3403997" y="1941910"/>
            <a:ext cx="241778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32</a:t>
            </a:r>
            <a:endParaRPr lang="en-US" sz="1063" dirty="0"/>
          </a:p>
        </p:txBody>
      </p:sp>
      <p:sp>
        <p:nvSpPr>
          <p:cNvPr id="15" name="Text 13"/>
          <p:cNvSpPr/>
          <p:nvPr/>
        </p:nvSpPr>
        <p:spPr>
          <a:xfrm>
            <a:off x="6101134" y="1941910"/>
            <a:ext cx="242016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16</a:t>
            </a:r>
            <a:endParaRPr lang="en-US" sz="1063" dirty="0"/>
          </a:p>
        </p:txBody>
      </p:sp>
      <p:sp>
        <p:nvSpPr>
          <p:cNvPr id="16" name="Shape 14"/>
          <p:cNvSpPr/>
          <p:nvPr/>
        </p:nvSpPr>
        <p:spPr>
          <a:xfrm>
            <a:off x="485404" y="2242766"/>
            <a:ext cx="8173194" cy="38539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22771" y="2327300"/>
            <a:ext cx="25018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Learning Rate</a:t>
            </a:r>
            <a:endParaRPr lang="en-US" sz="1063" dirty="0"/>
          </a:p>
        </p:txBody>
      </p:sp>
      <p:sp>
        <p:nvSpPr>
          <p:cNvPr id="18" name="Text 16"/>
          <p:cNvSpPr/>
          <p:nvPr/>
        </p:nvSpPr>
        <p:spPr>
          <a:xfrm>
            <a:off x="3403997" y="2327300"/>
            <a:ext cx="241778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2×10⁻⁵</a:t>
            </a:r>
            <a:endParaRPr lang="en-US" sz="1063" dirty="0"/>
          </a:p>
        </p:txBody>
      </p:sp>
      <p:sp>
        <p:nvSpPr>
          <p:cNvPr id="19" name="Text 17"/>
          <p:cNvSpPr/>
          <p:nvPr/>
        </p:nvSpPr>
        <p:spPr>
          <a:xfrm>
            <a:off x="6101134" y="2327300"/>
            <a:ext cx="242016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1×10⁻⁵</a:t>
            </a:r>
            <a:endParaRPr lang="en-US" sz="1063" dirty="0"/>
          </a:p>
        </p:txBody>
      </p:sp>
      <p:sp>
        <p:nvSpPr>
          <p:cNvPr id="20" name="Shape 18"/>
          <p:cNvSpPr/>
          <p:nvPr/>
        </p:nvSpPr>
        <p:spPr>
          <a:xfrm>
            <a:off x="485404" y="2628156"/>
            <a:ext cx="8173194" cy="3853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22771" y="2712690"/>
            <a:ext cx="25018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Optimizer</a:t>
            </a:r>
            <a:endParaRPr lang="en-US" sz="1063" dirty="0"/>
          </a:p>
        </p:txBody>
      </p:sp>
      <p:sp>
        <p:nvSpPr>
          <p:cNvPr id="22" name="Text 20"/>
          <p:cNvSpPr/>
          <p:nvPr/>
        </p:nvSpPr>
        <p:spPr>
          <a:xfrm>
            <a:off x="3403997" y="2712690"/>
            <a:ext cx="241778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AdamW</a:t>
            </a:r>
            <a:endParaRPr lang="en-US" sz="1063" dirty="0"/>
          </a:p>
        </p:txBody>
      </p:sp>
      <p:sp>
        <p:nvSpPr>
          <p:cNvPr id="23" name="Text 21"/>
          <p:cNvSpPr/>
          <p:nvPr/>
        </p:nvSpPr>
        <p:spPr>
          <a:xfrm>
            <a:off x="6101134" y="2712690"/>
            <a:ext cx="242016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AdamW</a:t>
            </a:r>
            <a:endParaRPr lang="en-US" sz="1063" dirty="0"/>
          </a:p>
        </p:txBody>
      </p:sp>
      <p:sp>
        <p:nvSpPr>
          <p:cNvPr id="24" name="Shape 22"/>
          <p:cNvSpPr/>
          <p:nvPr/>
        </p:nvSpPr>
        <p:spPr>
          <a:xfrm>
            <a:off x="485404" y="3013546"/>
            <a:ext cx="8173194" cy="38539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22771" y="3098081"/>
            <a:ext cx="25018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Epochs</a:t>
            </a:r>
            <a:endParaRPr lang="en-US" sz="1063" dirty="0"/>
          </a:p>
        </p:txBody>
      </p:sp>
      <p:sp>
        <p:nvSpPr>
          <p:cNvPr id="26" name="Text 24"/>
          <p:cNvSpPr/>
          <p:nvPr/>
        </p:nvSpPr>
        <p:spPr>
          <a:xfrm>
            <a:off x="3403997" y="3098081"/>
            <a:ext cx="241778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30 (early stopping)</a:t>
            </a:r>
            <a:endParaRPr lang="en-US" sz="1063" dirty="0"/>
          </a:p>
        </p:txBody>
      </p:sp>
      <p:sp>
        <p:nvSpPr>
          <p:cNvPr id="27" name="Text 25"/>
          <p:cNvSpPr/>
          <p:nvPr/>
        </p:nvSpPr>
        <p:spPr>
          <a:xfrm>
            <a:off x="6101134" y="3098081"/>
            <a:ext cx="242016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30 (early stopping)</a:t>
            </a:r>
            <a:endParaRPr lang="en-US" sz="1063" dirty="0"/>
          </a:p>
        </p:txBody>
      </p:sp>
      <p:sp>
        <p:nvSpPr>
          <p:cNvPr id="28" name="Shape 26"/>
          <p:cNvSpPr/>
          <p:nvPr/>
        </p:nvSpPr>
        <p:spPr>
          <a:xfrm>
            <a:off x="485404" y="3398937"/>
            <a:ext cx="8173194" cy="3853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22771" y="3483472"/>
            <a:ext cx="25018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GPU</a:t>
            </a:r>
            <a:endParaRPr lang="en-US" sz="1063" dirty="0"/>
          </a:p>
        </p:txBody>
      </p:sp>
      <p:sp>
        <p:nvSpPr>
          <p:cNvPr id="30" name="Text 28"/>
          <p:cNvSpPr/>
          <p:nvPr/>
        </p:nvSpPr>
        <p:spPr>
          <a:xfrm>
            <a:off x="3403997" y="3483472"/>
            <a:ext cx="241778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NVIDIA A100 40GB</a:t>
            </a:r>
            <a:endParaRPr lang="en-US" sz="1063" dirty="0"/>
          </a:p>
        </p:txBody>
      </p:sp>
      <p:sp>
        <p:nvSpPr>
          <p:cNvPr id="31" name="Text 29"/>
          <p:cNvSpPr/>
          <p:nvPr/>
        </p:nvSpPr>
        <p:spPr>
          <a:xfrm>
            <a:off x="6101134" y="3483472"/>
            <a:ext cx="242016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NVIDIA A100 40GB</a:t>
            </a:r>
            <a:endParaRPr lang="en-US" sz="1063" dirty="0"/>
          </a:p>
        </p:txBody>
      </p:sp>
      <p:sp>
        <p:nvSpPr>
          <p:cNvPr id="32" name="Shape 30"/>
          <p:cNvSpPr/>
          <p:nvPr/>
        </p:nvSpPr>
        <p:spPr>
          <a:xfrm>
            <a:off x="485404" y="3784327"/>
            <a:ext cx="8173194" cy="38539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22771" y="3868862"/>
            <a:ext cx="25018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Training Time</a:t>
            </a:r>
            <a:endParaRPr lang="en-US" sz="1063" dirty="0"/>
          </a:p>
        </p:txBody>
      </p:sp>
      <p:sp>
        <p:nvSpPr>
          <p:cNvPr id="34" name="Text 32"/>
          <p:cNvSpPr/>
          <p:nvPr/>
        </p:nvSpPr>
        <p:spPr>
          <a:xfrm>
            <a:off x="3403997" y="3868862"/>
            <a:ext cx="241778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~4.2 hours</a:t>
            </a:r>
            <a:endParaRPr lang="en-US" sz="1063" dirty="0"/>
          </a:p>
        </p:txBody>
      </p:sp>
      <p:sp>
        <p:nvSpPr>
          <p:cNvPr id="35" name="Text 33"/>
          <p:cNvSpPr/>
          <p:nvPr/>
        </p:nvSpPr>
        <p:spPr>
          <a:xfrm>
            <a:off x="6101134" y="3868862"/>
            <a:ext cx="242016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~6.8 hours</a:t>
            </a:r>
            <a:endParaRPr lang="en-US" sz="1063" dirty="0"/>
          </a:p>
        </p:txBody>
      </p:sp>
      <p:sp>
        <p:nvSpPr>
          <p:cNvPr id="36" name="Text 34"/>
          <p:cNvSpPr/>
          <p:nvPr/>
        </p:nvSpPr>
        <p:spPr>
          <a:xfrm>
            <a:off x="480641" y="4324127"/>
            <a:ext cx="818271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Face detection via MediaPipe BlazeFace achieves </a:t>
            </a:r>
            <a:r>
              <a:rPr lang="en-US" sz="1063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98.3%</a:t>
            </a: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detection rate. Full pipeline inference throughput: </a:t>
            </a:r>
            <a:r>
              <a:rPr lang="en-US" sz="1063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~14 posts/second</a:t>
            </a: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on a single GPU — meeting real-time social media moderation requirements.</a:t>
            </a:r>
            <a:endParaRPr lang="en-US" sz="106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8707"/>
            <a:ext cx="366161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Experimental Results</a:t>
            </a:r>
            <a:endParaRPr lang="en-US" sz="278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23764"/>
            <a:ext cx="3902943" cy="2143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726359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5" name="Text 2"/>
          <p:cNvSpPr/>
          <p:nvPr/>
        </p:nvSpPr>
        <p:spPr>
          <a:xfrm>
            <a:off x="4749701" y="1406054"/>
            <a:ext cx="313499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Key Findings (n = 3,800 test samples)</a:t>
            </a:r>
            <a:endParaRPr lang="en-US" sz="1375" dirty="0"/>
          </a:p>
        </p:txBody>
      </p:sp>
      <p:sp>
        <p:nvSpPr>
          <p:cNvPr id="6" name="Shape 3"/>
          <p:cNvSpPr/>
          <p:nvPr/>
        </p:nvSpPr>
        <p:spPr>
          <a:xfrm>
            <a:off x="4749700" y="1786979"/>
            <a:ext cx="1880593" cy="1563514"/>
          </a:xfrm>
          <a:prstGeom prst="roundRect">
            <a:avLst>
              <a:gd name="adj" fmla="val 3808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96222" y="1933501"/>
            <a:ext cx="158754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F1-Score: 92.6%</a:t>
            </a:r>
            <a:endParaRPr lang="en-US" sz="1375" dirty="0"/>
          </a:p>
        </p:txBody>
      </p:sp>
      <p:sp>
        <p:nvSpPr>
          <p:cNvPr id="8" name="Text 5"/>
          <p:cNvSpPr/>
          <p:nvPr/>
        </p:nvSpPr>
        <p:spPr>
          <a:xfrm>
            <a:off x="4896222" y="2296715"/>
            <a:ext cx="1587549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+10.4 pp vs. text-only, +13.1 pp vs. vision-only, +7.5 pp vs. early fusion</a:t>
            </a:r>
            <a:endParaRPr lang="en-US" sz="1094" dirty="0"/>
          </a:p>
        </p:txBody>
      </p:sp>
      <p:sp>
        <p:nvSpPr>
          <p:cNvPr id="9" name="Shape 6"/>
          <p:cNvSpPr/>
          <p:nvPr/>
        </p:nvSpPr>
        <p:spPr>
          <a:xfrm>
            <a:off x="6772052" y="1786979"/>
            <a:ext cx="1880593" cy="1563514"/>
          </a:xfrm>
          <a:prstGeom prst="roundRect">
            <a:avLst>
              <a:gd name="adj" fmla="val 3808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18574" y="1933501"/>
            <a:ext cx="158754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AUC: 0.967</a:t>
            </a:r>
            <a:endParaRPr lang="en-US" sz="1375" dirty="0"/>
          </a:p>
        </p:txBody>
      </p:sp>
      <p:sp>
        <p:nvSpPr>
          <p:cNvPr id="11" name="Text 8"/>
          <p:cNvSpPr/>
          <p:nvPr/>
        </p:nvSpPr>
        <p:spPr>
          <a:xfrm>
            <a:off x="6918574" y="2296716"/>
            <a:ext cx="158754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Correctly ranks misinformation above credible posts 96.7% of the time</a:t>
            </a:r>
            <a:endParaRPr lang="en-US" sz="1094" dirty="0"/>
          </a:p>
        </p:txBody>
      </p:sp>
      <p:sp>
        <p:nvSpPr>
          <p:cNvPr id="12" name="Shape 9"/>
          <p:cNvSpPr/>
          <p:nvPr/>
        </p:nvSpPr>
        <p:spPr>
          <a:xfrm>
            <a:off x="4749701" y="3492252"/>
            <a:ext cx="3902943" cy="883072"/>
          </a:xfrm>
          <a:prstGeom prst="roundRect">
            <a:avLst>
              <a:gd name="adj" fmla="val 674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6222" y="363877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Accuracy: 92.7%</a:t>
            </a:r>
            <a:endParaRPr lang="en-US" sz="1375" dirty="0"/>
          </a:p>
        </p:txBody>
      </p:sp>
      <p:sp>
        <p:nvSpPr>
          <p:cNvPr id="14" name="Text 11"/>
          <p:cNvSpPr/>
          <p:nvPr/>
        </p:nvSpPr>
        <p:spPr>
          <a:xfrm>
            <a:off x="4896222" y="4001989"/>
            <a:ext cx="36099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True positive rates: 95.0% (real), 96.2% (fake)</a:t>
            </a:r>
            <a:endParaRPr lang="en-US" sz="1094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D91674-3CAA-DD99-BFBB-8CF4DA54DAA3}"/>
              </a:ext>
            </a:extLst>
          </p:cNvPr>
          <p:cNvSpPr/>
          <p:nvPr/>
        </p:nvSpPr>
        <p:spPr>
          <a:xfrm>
            <a:off x="7798443" y="4825196"/>
            <a:ext cx="1273215" cy="3183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75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386209"/>
            <a:ext cx="6125394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56"/>
              </a:lnSpc>
            </a:pPr>
            <a:r>
              <a:rPr lang="en-US" sz="25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Per-Dataset Performance &amp; Limitations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10" y="1093217"/>
            <a:ext cx="3570238" cy="26545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9611" y="3878759"/>
            <a:ext cx="3965674" cy="195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31"/>
              </a:lnSpc>
            </a:pP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733479" y="1078632"/>
            <a:ext cx="163770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63"/>
              </a:lnSpc>
            </a:pPr>
            <a:r>
              <a:rPr lang="en-US" sz="12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Identified Limitations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733479" y="1410296"/>
            <a:ext cx="3965674" cy="994395"/>
          </a:xfrm>
          <a:prstGeom prst="roundRect">
            <a:avLst>
              <a:gd name="adj" fmla="val 689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719191" y="1410296"/>
            <a:ext cx="57150" cy="994395"/>
          </a:xfrm>
          <a:prstGeom prst="roundRect">
            <a:avLst>
              <a:gd name="adj" fmla="val 94419"/>
            </a:avLst>
          </a:prstGeom>
          <a:solidFill>
            <a:srgbClr val="373B48"/>
          </a:solidFill>
          <a:ln/>
        </p:spPr>
      </p:sp>
      <p:sp>
        <p:nvSpPr>
          <p:cNvPr id="8" name="Text 5"/>
          <p:cNvSpPr/>
          <p:nvPr/>
        </p:nvSpPr>
        <p:spPr>
          <a:xfrm>
            <a:off x="4919068" y="155302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63"/>
              </a:lnSpc>
            </a:pPr>
            <a:r>
              <a:rPr lang="en-US" sz="12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Non-Facial Imagery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919068" y="1870101"/>
            <a:ext cx="363735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31"/>
              </a:lnSpc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Doctored charts, event photos, and geographical images fall back to text-only accuracy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33479" y="2521074"/>
            <a:ext cx="3965674" cy="994395"/>
          </a:xfrm>
          <a:prstGeom prst="roundRect">
            <a:avLst>
              <a:gd name="adj" fmla="val 689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19191" y="2521074"/>
            <a:ext cx="57150" cy="994395"/>
          </a:xfrm>
          <a:prstGeom prst="roundRect">
            <a:avLst>
              <a:gd name="adj" fmla="val 94419"/>
            </a:avLst>
          </a:prstGeom>
          <a:solidFill>
            <a:srgbClr val="373B48"/>
          </a:solidFill>
          <a:ln/>
        </p:spPr>
      </p:sp>
      <p:sp>
        <p:nvSpPr>
          <p:cNvPr id="12" name="Text 9"/>
          <p:cNvSpPr/>
          <p:nvPr/>
        </p:nvSpPr>
        <p:spPr>
          <a:xfrm>
            <a:off x="4919068" y="2663800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63"/>
              </a:lnSpc>
            </a:pPr>
            <a:r>
              <a:rPr lang="en-US" sz="12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LLM-Generated Text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19068" y="2980879"/>
            <a:ext cx="363735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31"/>
              </a:lnSpc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High-quality LLM misinformation may be stylistically indistinguishable from credible journalism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33479" y="3631853"/>
            <a:ext cx="3965674" cy="994395"/>
          </a:xfrm>
          <a:prstGeom prst="roundRect">
            <a:avLst>
              <a:gd name="adj" fmla="val 689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19191" y="3631853"/>
            <a:ext cx="57150" cy="994395"/>
          </a:xfrm>
          <a:prstGeom prst="roundRect">
            <a:avLst>
              <a:gd name="adj" fmla="val 94419"/>
            </a:avLst>
          </a:prstGeom>
          <a:solidFill>
            <a:srgbClr val="373B48"/>
          </a:solidFill>
          <a:ln/>
        </p:spPr>
      </p:sp>
      <p:sp>
        <p:nvSpPr>
          <p:cNvPr id="16" name="Text 13"/>
          <p:cNvSpPr/>
          <p:nvPr/>
        </p:nvSpPr>
        <p:spPr>
          <a:xfrm>
            <a:off x="4919068" y="3774579"/>
            <a:ext cx="179776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63"/>
              </a:lnSpc>
            </a:pPr>
            <a:r>
              <a:rPr lang="en-US" sz="12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Domain Generalisation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919068" y="4091658"/>
            <a:ext cx="363735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31"/>
              </a:lnSpc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Fusion weights calibrated on benchmark distributions may not generalise to out-of-distribution domains</a:t>
            </a:r>
            <a:endParaRPr lang="en-US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730B12-FC7C-9899-51B0-B3093B89F851}"/>
              </a:ext>
            </a:extLst>
          </p:cNvPr>
          <p:cNvSpPr/>
          <p:nvPr/>
        </p:nvSpPr>
        <p:spPr>
          <a:xfrm>
            <a:off x="7798443" y="4825196"/>
            <a:ext cx="1273215" cy="3183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75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7FD96-8D88-DFBF-9084-11283E66C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DC3EE-C18C-B8E2-5F99-9364ECCC2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built a multimodal fake news detection system that analyzes both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textual and visual content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social media posts simultaneously.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Proved that treating text and image/video as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expert branches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combining them at decision level gives better results than merging them early.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not just academically sound but also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practically usable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works in real-time, handles missing data, and can be updated modularly.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bridges the gap between NLP and Computer Vision to tackle one of the most pressing challenges of the digital age — misinformation.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139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A8370-804F-1C58-28F5-09F3C8544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FUTURE WORK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9038C-6C01-0943-E312-854B3DFBC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future, the visual branch can be extended to detect non-facial image manipulation such as doctored charts and fake event photos using Error Level Analysis.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static fusion weights can be replaced with a dynamic meta-learner that adjusts text and vision contributions based on each input.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context signals like propagation graphs and account credibility can be added as a third modality to further improve detection.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Continual learning strategies can also be applied so the model automatically adapts to new and evolving deepfake techniques without requiring full retraining.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538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D1E60-B5A7-CAC2-6F95-7A1A9D007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QUESTIONS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F0FD223-1C3D-C4B6-6EB0-759B9E255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1829622"/>
            <a:ext cx="8096804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Late Fusion over Early Fusion?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assign higher weight to vision (0.6) than text (0.4)?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does the system handle posts with no face detected?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over BERT?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Vision Transformer over CNN for deepfake detection?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when both modalities give conflicting predictions?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did you choose the decision threshold of 0.5?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this system work in real-time on a normal laptop without GPU? </a:t>
            </a:r>
          </a:p>
        </p:txBody>
      </p:sp>
    </p:spTree>
    <p:extLst>
      <p:ext uri="{BB962C8B-B14F-4D97-AF65-F5344CB8AC3E}">
        <p14:creationId xmlns:p14="http://schemas.microsoft.com/office/powerpoint/2010/main" val="3904821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/>
        </p:nvSpPr>
        <p:spPr>
          <a:xfrm>
            <a:off x="1579425" y="1917125"/>
            <a:ext cx="6172200" cy="19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 b="1">
                <a:solidFill>
                  <a:schemeClr val="dk2"/>
                </a:solidFill>
                <a:latin typeface="Pacifico"/>
                <a:ea typeface="Pacifico"/>
                <a:cs typeface="Pacifico"/>
                <a:sym typeface="Pacifico"/>
              </a:rPr>
              <a:t>Thank You</a:t>
            </a:r>
            <a:endParaRPr sz="5500" b="1">
              <a:solidFill>
                <a:schemeClr val="dk2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1405</Words>
  <Application>Microsoft Office PowerPoint</Application>
  <PresentationFormat>On-screen Show (16:9)</PresentationFormat>
  <Paragraphs>120</Paragraphs>
  <Slides>18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Mona Sans Semi Bold</vt:lpstr>
      <vt:lpstr>Pacifico</vt:lpstr>
      <vt:lpstr>Times New Roman</vt:lpstr>
      <vt:lpstr>Funnel Sans</vt:lpstr>
      <vt:lpstr>Simple Light</vt:lpstr>
      <vt:lpstr>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                                  CONCLUSION</vt:lpstr>
      <vt:lpstr>                                                   FUTURE WORK</vt:lpstr>
      <vt:lpstr>                                                     QUESTIONS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Sowjanya Narisetty</dc:creator>
  <cp:lastModifiedBy>kavya Maguluri</cp:lastModifiedBy>
  <cp:revision>14</cp:revision>
  <dcterms:modified xsi:type="dcterms:W3CDTF">2026-05-03T16:33:35Z</dcterms:modified>
</cp:coreProperties>
</file>